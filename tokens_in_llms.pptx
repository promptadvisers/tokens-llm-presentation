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600" b="1">
                <a:solidFill>
                  <a:srgbClr val="000000"/>
                </a:solidFill>
              </a:defRPr>
            </a:pPr>
            <a:r>
              <a:t>Understanding Tokens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808080"/>
                </a:solidFill>
              </a:defRPr>
            </a:pPr>
            <a:r>
              <a:t>The Building Blocks of Large Language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6217920"/>
            <a:ext cx="1828800" cy="9144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What is a Token?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37360"/>
            <a:ext cx="1828800" cy="4572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A token is the basic unit of text that a language model processes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Tokens can be words, subwords, characters, or punctuation marks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Models don't read text the way humans do—they process tokens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Example: 'Hello world!' might be split into ['Hello', ' world', '!']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Why Tokens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37360"/>
            <a:ext cx="1828800" cy="4572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Language models work with numbers, not text directly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Text must be converted into tokens, then into numerical representations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The tokenization method affects model performance and capabilities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Token limits define how much text a model can process at once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Understanding tokens helps optimize prompts and manage costs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The Tokenization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37360"/>
            <a:ext cx="1828800" cy="4572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3200400"/>
            <a:ext cx="2286000" cy="13716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1. Raw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200400"/>
            <a:ext cx="2286000" cy="13716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2. Tokenize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3200400"/>
            <a:ext cx="2286000" cy="13716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3. Token 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3200400"/>
            <a:ext cx="2286000" cy="13716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defRPr sz="1800" b="1">
                <a:solidFill>
                  <a:srgbClr val="000000"/>
                </a:solidFill>
              </a:defRPr>
            </a:pPr>
            <a:r>
              <a:t>4. Embeddings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3566160"/>
            <a:ext cx="731520" cy="54864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6858000" y="3566160"/>
            <a:ext cx="731520" cy="54864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9601200" y="3566160"/>
            <a:ext cx="731520" cy="54864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5486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404040"/>
                </a:solidFill>
              </a:defRPr>
            </a:pPr>
            <a:r>
              <a:t>Example: "Hello world" → ["Hello", " world"] → [5158, 1917] → [vector embeddings]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Types of Tokenization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37360"/>
            <a:ext cx="1828800" cy="4572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Word-level: Each word becomes a token (simple but large vocabulary)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Character-level: Each character is a token (flexible but long sequences)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Subword: Balance between words and characters (most common)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Byte-Pair Encoding (BPE): Merges frequent character pairs iteratively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WordPiece &amp; SentencePiece: Variations used by different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Subword Tokenization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37360"/>
            <a:ext cx="1828800" cy="4572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Common word: "running"</a:t>
            </a:r>
          </a:p>
        </p:txBody>
      </p:sp>
      <p:sp>
        <p:nvSpPr>
          <p:cNvPr id="5" name="Right Arrow 4"/>
          <p:cNvSpPr/>
          <p:nvPr/>
        </p:nvSpPr>
        <p:spPr>
          <a:xfrm>
            <a:off x="6858000" y="2651760"/>
            <a:ext cx="914400" cy="365760"/>
          </a:xfrm>
          <a:prstGeom prst="right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2560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4040"/>
                </a:solidFill>
                <a:latin typeface="Courier New"/>
              </a:defRPr>
            </a:pPr>
            <a:r>
              <a:t>["running"]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7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Uncommon word: "tokenization"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858000" y="3931919"/>
            <a:ext cx="914400" cy="365760"/>
          </a:xfrm>
          <a:prstGeom prst="right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384047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4040"/>
                </a:solidFill>
                <a:latin typeface="Courier New"/>
              </a:defRPr>
            </a:pPr>
            <a:r>
              <a:t>["token", "ization"]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Rare word: "antidisestablishmentarianism"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58000" y="5212079"/>
            <a:ext cx="914400" cy="365760"/>
          </a:xfrm>
          <a:prstGeom prst="rightArrow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5120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04040"/>
                </a:solidFill>
                <a:latin typeface="Courier New"/>
              </a:defRPr>
            </a:pPr>
            <a:r>
              <a:t>["anti", "dis", "establish", "ment", "arian", "ism"]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00800"/>
            <a:ext cx="12801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</a:defRPr>
            </a:pPr>
            <a:r>
              <a:t>Key Insight: Frequent words = fewer tokens, Rare words = more tokens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Token Limits &amp; Context Windows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37360"/>
            <a:ext cx="1828800" cy="4572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Every model has a maximum context window (measured in tokens)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Context window includes both input (prompt) and output (response)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Examples: GPT-3.5 (4K tokens), GPT-4 (8K-32K), Claude (200K)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Exceeding limits requires truncation or summarization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Longer contexts enable more complex reasoning and document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Practical Implications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37360"/>
            <a:ext cx="1828800" cy="4572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Cost: Many APIs charge per token (input + output)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Speed: More tokens = longer processing time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Context management: Must fit prompts within token limits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Language differences: Some languages use more tokens than others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Special characters and code often require more tokens than plain 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Optimizing Token Usage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37360"/>
            <a:ext cx="1828800" cy="4572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Be concise: Remove unnecessary words from prompts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Use clear structure: Well-organized text tokenizes more efficiently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Choose the right model: Balance token limits with task requirements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Monitor usage: Track token consumption for cost management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Consider chunking: Break large documents into smaller segments</a:t>
            </a:r>
          </a:p>
          <a:p>
            <a:pPr>
              <a:spcBef>
                <a:spcPts val="1200"/>
              </a:spcBef>
              <a:defRPr sz="2000">
                <a:solidFill>
                  <a:srgbClr val="404040"/>
                </a:solidFill>
              </a:defRPr>
            </a:pPr>
            <a:r>
              <a:t>Test tokenization: Use tokenizer tools to preview splits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737360"/>
            <a:ext cx="1828800" cy="4572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10972800" cy="8229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Tokens are the fundamental units LLMs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840480"/>
            <a:ext cx="10972800" cy="8229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Tokenization affects performance, cost, and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937760"/>
            <a:ext cx="10972800" cy="8229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Understanding tokens helps optimize AI interactions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6035040"/>
            <a:ext cx="10972800" cy="822960"/>
          </a:xfrm>
          <a:prstGeom prst="round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defRPr sz="2000">
                <a:solidFill>
                  <a:srgbClr val="000000"/>
                </a:solidFill>
              </a:defRPr>
            </a:pPr>
            <a:r>
              <a:t>Different models use different tokenization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